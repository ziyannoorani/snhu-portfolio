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1874520"/>
            <a:ext cx="146304" cy="146304"/>
          </a:xfrm>
          <a:prstGeom prst="ellipse">
            <a:avLst/>
          </a:prstGeom>
          <a:solidFill>
            <a:srgbClr val="5EC9C6"/>
          </a:solidFill>
          <a:ln/>
        </p:spPr>
      </p:sp>
      <p:sp>
        <p:nvSpPr>
          <p:cNvPr id="3" name="Shape 1"/>
          <p:cNvSpPr/>
          <p:nvPr/>
        </p:nvSpPr>
        <p:spPr>
          <a:xfrm>
            <a:off x="1161288" y="1874520"/>
            <a:ext cx="146304" cy="146304"/>
          </a:xfrm>
          <a:prstGeom prst="ellipse">
            <a:avLst/>
          </a:prstGeom>
          <a:solidFill>
            <a:srgbClr val="5EC9C6"/>
          </a:solidFill>
          <a:ln/>
        </p:spPr>
      </p:sp>
      <p:sp>
        <p:nvSpPr>
          <p:cNvPr id="4" name="Shape 2"/>
          <p:cNvSpPr/>
          <p:nvPr/>
        </p:nvSpPr>
        <p:spPr>
          <a:xfrm>
            <a:off x="1453896" y="1874520"/>
            <a:ext cx="146304" cy="146304"/>
          </a:xfrm>
          <a:prstGeom prst="ellipse">
            <a:avLst/>
          </a:prstGeom>
          <a:solidFill>
            <a:srgbClr val="5EC9C6"/>
          </a:solidFill>
          <a:ln/>
        </p:spPr>
      </p:sp>
      <p:sp>
        <p:nvSpPr>
          <p:cNvPr id="5" name="Shape 3"/>
          <p:cNvSpPr/>
          <p:nvPr/>
        </p:nvSpPr>
        <p:spPr>
          <a:xfrm>
            <a:off x="1746504" y="1874520"/>
            <a:ext cx="146304" cy="146304"/>
          </a:xfrm>
          <a:prstGeom prst="ellipse">
            <a:avLst/>
          </a:prstGeom>
          <a:solidFill>
            <a:srgbClr val="5EC9C6"/>
          </a:solidFill>
          <a:ln/>
        </p:spPr>
      </p:sp>
      <p:sp>
        <p:nvSpPr>
          <p:cNvPr id="6" name="Shape 4"/>
          <p:cNvSpPr/>
          <p:nvPr/>
        </p:nvSpPr>
        <p:spPr>
          <a:xfrm>
            <a:off x="2039112" y="1874520"/>
            <a:ext cx="146304" cy="146304"/>
          </a:xfrm>
          <a:prstGeom prst="ellipse">
            <a:avLst/>
          </a:prstGeom>
          <a:solidFill>
            <a:srgbClr val="3A5378"/>
          </a:solidFill>
          <a:ln/>
        </p:spPr>
      </p:sp>
      <p:sp>
        <p:nvSpPr>
          <p:cNvPr id="7" name="Shape 5"/>
          <p:cNvSpPr/>
          <p:nvPr/>
        </p:nvSpPr>
        <p:spPr>
          <a:xfrm>
            <a:off x="2331720" y="1874520"/>
            <a:ext cx="146304" cy="146304"/>
          </a:xfrm>
          <a:prstGeom prst="ellipse">
            <a:avLst/>
          </a:prstGeom>
          <a:solidFill>
            <a:srgbClr val="3A537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325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E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CS-250  |  SOFTWARE DEVELOPMENT LIFECYCLE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2402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Scrum-Agile Approach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868680" y="3429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E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from the SNHU Travel Project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86968" y="4160520"/>
            <a:ext cx="1463040" cy="54864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389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Ziyan Noorani</a:t>
            </a:r>
            <a:pPr indent="0" marL="0">
              <a:buNone/>
            </a:pPr>
            <a:r>
              <a:rPr lang="en-US" sz="1600" dirty="0">
                <a:solidFill>
                  <a:srgbClr val="AEB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Southern New Hampshire University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ROLES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Roles on a Scrum-Agile Team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4292" y="1691640"/>
            <a:ext cx="35204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4292" y="1691640"/>
            <a:ext cx="3520440" cy="109728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6" name="Shape 4"/>
          <p:cNvSpPr/>
          <p:nvPr/>
        </p:nvSpPr>
        <p:spPr>
          <a:xfrm>
            <a:off x="870052" y="2057400"/>
            <a:ext cx="868680" cy="8686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796" y="2295144"/>
            <a:ext cx="393192" cy="3931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4332" y="30632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Owner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4332" y="352044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and prioritizes the product backlog and turns business goals into user stories.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24332" y="48006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the team builds and why, maximizing product value.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35628" y="1691640"/>
            <a:ext cx="35204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8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35628" y="1691640"/>
            <a:ext cx="3520440" cy="109728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13" name="Shape 10"/>
          <p:cNvSpPr/>
          <p:nvPr/>
        </p:nvSpPr>
        <p:spPr>
          <a:xfrm>
            <a:off x="4701388" y="2057400"/>
            <a:ext cx="868680" cy="8686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9132" y="2295144"/>
            <a:ext cx="393192" cy="3931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55668" y="30632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Scrum Master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4655668" y="352044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Facilitates the Scrum events, removes impediments, and coaches the team on Agile practices.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655668" y="48006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the PROCESS so the team can deliver each sprint.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166964" y="1691640"/>
            <a:ext cx="35204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8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166964" y="1691640"/>
            <a:ext cx="3520440" cy="109728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20" name="Shape 16"/>
          <p:cNvSpPr/>
          <p:nvPr/>
        </p:nvSpPr>
        <p:spPr>
          <a:xfrm>
            <a:off x="8532724" y="2057400"/>
            <a:ext cx="868680" cy="8686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0468" y="2295144"/>
            <a:ext cx="393192" cy="39319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87004" y="30632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 Team</a:t>
            </a:r>
            <a:endParaRPr lang="en-US" sz="1900" dirty="0"/>
          </a:p>
        </p:txBody>
      </p:sp>
      <p:sp>
        <p:nvSpPr>
          <p:cNvPr id="23" name="Text 18"/>
          <p:cNvSpPr/>
          <p:nvPr/>
        </p:nvSpPr>
        <p:spPr>
          <a:xfrm>
            <a:off x="8487004" y="3520440"/>
            <a:ext cx="2880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developers and testers who design, build, and verify the increment; cross-functional and self-organizing.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8487004" y="48006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stories into working, tested software.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548640" y="64008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Schwaber &amp; Sutherland (2020); Lee &amp; Chen (2023).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PHASES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SDLC Phases in an Agile Approach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Agile, the SDLC phases are not run once — they repeat inside every short sprint, so the product grows in working increments.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81432" y="2331720"/>
            <a:ext cx="208483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8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39800" y="1947672"/>
            <a:ext cx="768096" cy="768096"/>
          </a:xfrm>
          <a:prstGeom prst="ellipse">
            <a:avLst/>
          </a:prstGeom>
          <a:solidFill>
            <a:srgbClr val="0E9594"/>
          </a:solidFill>
          <a:ln w="38100">
            <a:solidFill>
              <a:srgbClr val="F4F7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9800" y="194767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6024" y="283464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4312" y="3429000"/>
            <a:ext cx="17190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and refine the highest-value backlog stories for the sprint.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75408" y="3246120"/>
            <a:ext cx="182880" cy="0"/>
          </a:xfrm>
          <a:prstGeom prst="line">
            <a:avLst/>
          </a:prstGeom>
          <a:noFill/>
          <a:ln w="31750">
            <a:solidFill>
              <a:srgbClr val="E0A45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67432" y="2331720"/>
            <a:ext cx="208483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8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5800" y="1947672"/>
            <a:ext cx="768096" cy="768096"/>
          </a:xfrm>
          <a:prstGeom prst="ellipse">
            <a:avLst/>
          </a:prstGeom>
          <a:solidFill>
            <a:srgbClr val="0E9594"/>
          </a:solidFill>
          <a:ln w="38100">
            <a:solidFill>
              <a:srgbClr val="F4F7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5800" y="194767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932024" y="283464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50312" y="3429000"/>
            <a:ext cx="17190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a lightweight, just-enough design for the chosen stories.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61408" y="3246120"/>
            <a:ext cx="182880" cy="0"/>
          </a:xfrm>
          <a:prstGeom prst="line">
            <a:avLst/>
          </a:prstGeom>
          <a:noFill/>
          <a:ln w="31750">
            <a:solidFill>
              <a:srgbClr val="E0A45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53432" y="2331720"/>
            <a:ext cx="208483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8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11800" y="1947672"/>
            <a:ext cx="768096" cy="768096"/>
          </a:xfrm>
          <a:prstGeom prst="ellipse">
            <a:avLst/>
          </a:prstGeom>
          <a:solidFill>
            <a:srgbClr val="0E9594"/>
          </a:solidFill>
          <a:ln w="38100">
            <a:solidFill>
              <a:srgbClr val="F4F7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1800" y="194767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218024" y="283464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36312" y="3429000"/>
            <a:ext cx="17190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increment in small, testable pieces.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47408" y="3246120"/>
            <a:ext cx="182880" cy="0"/>
          </a:xfrm>
          <a:prstGeom prst="line">
            <a:avLst/>
          </a:prstGeom>
          <a:noFill/>
          <a:ln w="31750">
            <a:solidFill>
              <a:srgbClr val="E0A45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339432" y="2331720"/>
            <a:ext cx="208483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8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97800" y="1947672"/>
            <a:ext cx="768096" cy="768096"/>
          </a:xfrm>
          <a:prstGeom prst="ellipse">
            <a:avLst/>
          </a:prstGeom>
          <a:solidFill>
            <a:srgbClr val="0E9594"/>
          </a:solidFill>
          <a:ln w="38100">
            <a:solidFill>
              <a:srgbClr val="F4F7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97800" y="194767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504024" y="283464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522312" y="3429000"/>
            <a:ext cx="17190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each story against its acceptance criteria.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433408" y="3246120"/>
            <a:ext cx="182880" cy="0"/>
          </a:xfrm>
          <a:prstGeom prst="line">
            <a:avLst/>
          </a:prstGeom>
          <a:noFill/>
          <a:ln w="31750">
            <a:solidFill>
              <a:srgbClr val="E0A45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625432" y="2331720"/>
            <a:ext cx="208483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8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283800" y="1947672"/>
            <a:ext cx="768096" cy="768096"/>
          </a:xfrm>
          <a:prstGeom prst="ellipse">
            <a:avLst/>
          </a:prstGeom>
          <a:solidFill>
            <a:srgbClr val="0E9594"/>
          </a:solidFill>
          <a:ln w="38100">
            <a:solidFill>
              <a:srgbClr val="F4F7F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83800" y="194767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9790024" y="283464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Release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808312" y="3429000"/>
            <a:ext cx="17190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the increment, gather feedback, and adapt the backlog.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5166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</a:t>
            </a:r>
            <a:pPr indent="0" marL="0">
              <a:buNone/>
            </a:pPr>
            <a:r>
              <a:rPr lang="en-US" sz="13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sprint repeats the full cycle, so requirements, design, and testing are revisited continuously rather than locked in once.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48640" y="64008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&amp; Chen (2023); monday.com (2026).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CONTRAST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Waterfall Model — and How It Would Differ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2743200" cy="566928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8AA0B8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7830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252728" y="2496312"/>
            <a:ext cx="2743200" cy="566928"/>
          </a:xfrm>
          <a:prstGeom prst="rect">
            <a:avLst/>
          </a:prstGeom>
          <a:solidFill>
            <a:srgbClr val="24395C"/>
          </a:solidFill>
          <a:ln/>
          <a:effectLst>
            <a:outerShdw sx="100000" sy="100000" kx="0" ky="0" algn="bl" rotWithShape="0" blurRad="101600" dist="38100" dir="5400000">
              <a:srgbClr val="8AA0B8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52728" y="24963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19656" y="3209544"/>
            <a:ext cx="2743200" cy="566928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8AA0B8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19656" y="32095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386584" y="3922776"/>
            <a:ext cx="2743200" cy="566928"/>
          </a:xfrm>
          <a:prstGeom prst="rect">
            <a:avLst/>
          </a:prstGeom>
          <a:solidFill>
            <a:srgbClr val="24395C"/>
          </a:solidFill>
          <a:ln/>
          <a:effectLst>
            <a:outerShdw sx="100000" sy="100000" kx="0" ky="0" algn="bl" rotWithShape="0" blurRad="101600" dist="38100" dir="5400000">
              <a:srgbClr val="8AA0B8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86584" y="392277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53512" y="4636008"/>
            <a:ext cx="2743200" cy="566928"/>
          </a:xfrm>
          <a:prstGeom prst="rect">
            <a:avLst/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8AA0B8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53512" y="463600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54406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must finish before the next begins; requirements are locked up front.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1783080"/>
            <a:ext cx="5257800" cy="3840480"/>
          </a:xfrm>
          <a:prstGeom prst="rect">
            <a:avLst/>
          </a:prstGeom>
          <a:solidFill>
            <a:srgbClr val="FBF1E2"/>
          </a:solidFill>
          <a:ln w="19050">
            <a:solidFill>
              <a:srgbClr val="E0A458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8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783080"/>
            <a:ext cx="128016" cy="3840480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20116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Wellness Pivot Under Waterfall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75120" y="2542032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Mid-project, SNHU Travel pivoted the booking tool to detox &amp; wellness destinations.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Scrum approach, the Product Owner simply re-prioritized the backlog and the change fit into the next sprint.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waterfall, the change would arrive after requirements were frozen — forcing the team to reopen earlier phases and rework completed design and code at much higher cost.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monday.com (2026); Knack (2024).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CHOICE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Choosing Waterfall or Agile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257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737360"/>
            <a:ext cx="5257800" cy="640080"/>
          </a:xfrm>
          <a:prstGeom prst="rect">
            <a:avLst/>
          </a:prstGeom>
          <a:solidFill>
            <a:srgbClr val="0E959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0195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99032" y="173736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Favor Agile when…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51560" y="2606040"/>
            <a:ext cx="4526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are likely to change or aren’t fully known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moves fast and feedback matters early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is customer-facing and delivered in increments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is small, collaborative, and self-organizing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1737360"/>
            <a:ext cx="5257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B8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63640" y="1737360"/>
            <a:ext cx="5257800" cy="64008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90195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76872" y="173736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Favor Waterfall when…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29400" y="2606040"/>
            <a:ext cx="4526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are fixed, stable, and well understood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and outcome are predictable from the start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up-front documentation or compliance is required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after planning is rare or costly to allow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413248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5349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E95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experience:  </a:t>
            </a:r>
            <a:pPr indent="0" marL="0">
              <a:buNone/>
            </a:pPr>
            <a:r>
              <a:rPr lang="en-US" sz="14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SNHU Travel had changing requirements in a fast-moving market — which made the Scrum-Agile approach the better fit.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48640" y="64008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Knack (2024); PremierAgile (2024); monday.com (2026).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68680" y="1234440"/>
            <a:ext cx="1280160" cy="45720"/>
          </a:xfrm>
          <a:prstGeom prst="rect">
            <a:avLst/>
          </a:prstGeom>
          <a:solidFill>
            <a:srgbClr val="0E9594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554480"/>
            <a:ext cx="10469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Knack. (2024). Scrum vs. Waterfall: Complete guide and comparison. https://www.knack.com/blog/scrum-vs-waterfall/</a:t>
            </a:r>
            <a:endParaRPr lang="en-US" sz="1350" dirty="0"/>
          </a:p>
          <a:p>
            <a:pPr indent="0" marL="0">
              <a:lnSpc>
                <a:spcPct val="10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Lee, W.-T., &amp; Chen, C.-H. (2023). Agile software development and reuse approach with Scrum and software product line engineering. Electronics, 12(15), 3291. https://doi.org/10.3390/electronics12153291</a:t>
            </a:r>
            <a:endParaRPr lang="en-US" sz="1350" dirty="0"/>
          </a:p>
          <a:p>
            <a:pPr indent="0" marL="0">
              <a:lnSpc>
                <a:spcPct val="10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monday.com. (2026). Agile vs. Waterfall vs. Scrum: The complete comparison guide for 2026. https://monday.com/blog/rnd/agile-vs-waterfall-vs-scrum/</a:t>
            </a:r>
            <a:endParaRPr lang="en-US" sz="1350" dirty="0"/>
          </a:p>
          <a:p>
            <a:pPr indent="0" marL="0">
              <a:lnSpc>
                <a:spcPct val="10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PremierAgile. (2024). Pros and cons of Waterfall vs. Agile/Scrum project management in 2024. https://premieragile.com/pros-cons-waterfall-agile-scrum-project-management-2024/</a:t>
            </a:r>
            <a:endParaRPr lang="en-US" sz="1350" dirty="0"/>
          </a:p>
          <a:p>
            <a:pPr indent="0" marL="0">
              <a:lnSpc>
                <a:spcPct val="104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Schwaber, K., &amp; Sutherland, J. (2020). The Scrum Guide. https://scrumguides.org/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68680" y="5257800"/>
            <a:ext cx="10469880" cy="960120"/>
          </a:xfrm>
          <a:prstGeom prst="rect">
            <a:avLst/>
          </a:prstGeom>
          <a:solidFill>
            <a:srgbClr val="24395C"/>
          </a:solidFill>
          <a:ln w="12700">
            <a:solidFill>
              <a:srgbClr val="3A53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5349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5E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Acknowledgment: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Anthropic’s Claude (Opus 4.8) was used to help organize and word these slides and format the sources; all content reflects my own CS-250 work, which I reviewed and edited. </a:t>
            </a:r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AEBE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Anthropic. (2026). Claude (Opus 4.8) [Large language model]. https://claude.ai/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Scrum-Agile Approach</dc:title>
  <dc:subject>PptxGenJS Presentation</dc:subject>
  <dc:creator>Ziyan Noorani</dc:creator>
  <cp:lastModifiedBy>Ziyan Noorani</cp:lastModifiedBy>
  <cp:revision>1</cp:revision>
  <dcterms:created xsi:type="dcterms:W3CDTF">2026-05-30T23:57:32Z</dcterms:created>
  <dcterms:modified xsi:type="dcterms:W3CDTF">2026-05-30T23:57:32Z</dcterms:modified>
</cp:coreProperties>
</file>